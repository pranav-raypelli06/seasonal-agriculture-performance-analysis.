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rebuchet MS" charset="1" panose="020B0603020202020204"/>
      <p:regular r:id="rId22"/>
    </p:embeddedFont>
    <p:embeddedFont>
      <p:font typeface="Trebuchet MS Bold" charset="1" panose="020B0703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3" y="2074212"/>
            <a:ext cx="1844345" cy="1589961"/>
            <a:chOff x="0" y="0"/>
            <a:chExt cx="2459126" cy="2119948"/>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5632542" y="1791929"/>
            <a:ext cx="2499246" cy="2154517"/>
            <a:chOff x="0" y="0"/>
            <a:chExt cx="3332328" cy="2872689"/>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5707494" y="7849772"/>
            <a:ext cx="1077392" cy="928783"/>
            <a:chOff x="0" y="0"/>
            <a:chExt cx="1436522" cy="1238377"/>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756754" y="1651959"/>
            <a:ext cx="977417" cy="842601"/>
            <a:chOff x="0" y="0"/>
            <a:chExt cx="1303223" cy="1123467"/>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sp>
        <p:nvSpPr>
          <p:cNvPr name="TextBox 37" id="37"/>
          <p:cNvSpPr txBox="true"/>
          <p:nvPr/>
        </p:nvSpPr>
        <p:spPr>
          <a:xfrm rot="0">
            <a:off x="1108986" y="4303319"/>
            <a:ext cx="12663230" cy="1457325"/>
          </a:xfrm>
          <a:prstGeom prst="rect">
            <a:avLst/>
          </a:prstGeom>
        </p:spPr>
        <p:txBody>
          <a:bodyPr anchor="t" rtlCol="false" tIns="0" lIns="0" bIns="0" rIns="0">
            <a:spAutoFit/>
          </a:bodyPr>
          <a:lstStyle/>
          <a:p>
            <a:pPr algn="l">
              <a:lnSpc>
                <a:spcPts val="5759"/>
              </a:lnSpc>
            </a:pPr>
            <a:r>
              <a:rPr lang="en-US" sz="4800">
                <a:solidFill>
                  <a:srgbClr val="000000"/>
                </a:solidFill>
                <a:latin typeface="Trebuchet MS"/>
                <a:ea typeface="Trebuchet MS"/>
                <a:cs typeface="Trebuchet MS"/>
                <a:sym typeface="Trebuchet MS"/>
              </a:rPr>
              <a:t>Project Title -Seasonal Agriculture Performance Analysis. </a:t>
            </a:r>
          </a:p>
        </p:txBody>
      </p:sp>
      <p:grpSp>
        <p:nvGrpSpPr>
          <p:cNvPr name="Group 38" id="38"/>
          <p:cNvGrpSpPr/>
          <p:nvPr/>
        </p:nvGrpSpPr>
        <p:grpSpPr>
          <a:xfrm rot="0">
            <a:off x="1013936" y="9707880"/>
            <a:ext cx="3214688" cy="289560"/>
            <a:chOff x="0" y="0"/>
            <a:chExt cx="4286250" cy="386080"/>
          </a:xfrm>
        </p:grpSpPr>
        <p:sp>
          <p:nvSpPr>
            <p:cNvPr name="Freeform 39" id="39"/>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40" id="40"/>
          <p:cNvSpPr txBox="true"/>
          <p:nvPr/>
        </p:nvSpPr>
        <p:spPr>
          <a:xfrm rot="0">
            <a:off x="1108986" y="7215187"/>
            <a:ext cx="8188583" cy="419100"/>
          </a:xfrm>
          <a:prstGeom prst="rect">
            <a:avLst/>
          </a:prstGeom>
        </p:spPr>
        <p:txBody>
          <a:bodyPr anchor="t" rtlCol="false" tIns="0" lIns="0" bIns="0" rIns="0">
            <a:spAutoFit/>
          </a:bodyPr>
          <a:lstStyle/>
          <a:p>
            <a:pPr algn="l">
              <a:lnSpc>
                <a:spcPts val="3240"/>
              </a:lnSpc>
            </a:pPr>
            <a:r>
              <a:rPr lang="en-US" sz="2700" b="true">
                <a:solidFill>
                  <a:srgbClr val="000000"/>
                </a:solidFill>
                <a:latin typeface="Trebuchet MS Bold"/>
                <a:ea typeface="Trebuchet MS Bold"/>
                <a:cs typeface="Trebuchet MS Bold"/>
                <a:sym typeface="Trebuchet MS Bold"/>
              </a:rPr>
              <a:t>AICTE STU ID :STU6a4393e9efe661782813673 </a:t>
            </a:r>
          </a:p>
        </p:txBody>
      </p:sp>
      <p:sp>
        <p:nvSpPr>
          <p:cNvPr name="TextBox 41" id="41"/>
          <p:cNvSpPr txBox="true"/>
          <p:nvPr/>
        </p:nvSpPr>
        <p:spPr>
          <a:xfrm rot="0">
            <a:off x="990590" y="6149778"/>
            <a:ext cx="7805639" cy="676275"/>
          </a:xfrm>
          <a:prstGeom prst="rect">
            <a:avLst/>
          </a:prstGeom>
        </p:spPr>
        <p:txBody>
          <a:bodyPr anchor="t" rtlCol="false" tIns="0" lIns="0" bIns="0" rIns="0">
            <a:spAutoFit/>
          </a:bodyPr>
          <a:lstStyle/>
          <a:p>
            <a:pPr algn="ctr">
              <a:lnSpc>
                <a:spcPts val="2699"/>
              </a:lnSpc>
            </a:pPr>
            <a:r>
              <a:rPr lang="en-US" sz="2249" b="true">
                <a:solidFill>
                  <a:srgbClr val="000000"/>
                </a:solidFill>
                <a:latin typeface="Trebuchet MS Bold"/>
                <a:ea typeface="Trebuchet MS Bold"/>
                <a:cs typeface="Trebuchet MS Bold"/>
                <a:sym typeface="Trebuchet MS Bold"/>
              </a:rPr>
              <a:t>Name: PRANAV SUNIL RAYPELLI</a:t>
            </a:r>
          </a:p>
          <a:p>
            <a:pPr algn="ctr">
              <a:lnSpc>
                <a:spcPts val="2699"/>
              </a:lnSpc>
              <a:spcBef>
                <a:spcPct val="0"/>
              </a:spcBef>
            </a:pPr>
            <a:r>
              <a:rPr lang="en-US" b="true" sz="2249">
                <a:solidFill>
                  <a:srgbClr val="000000"/>
                </a:solidFill>
                <a:latin typeface="Trebuchet MS Bold"/>
                <a:ea typeface="Trebuchet MS Bold"/>
                <a:cs typeface="Trebuchet MS Bold"/>
                <a:sym typeface="Trebuchet MS Bold"/>
              </a:rPr>
              <a:t> College name: VIDYALANKAR INSTITUTE OF TECHNOLOGY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454532" y="3118031"/>
            <a:ext cx="9464040" cy="6450327"/>
          </a:xfrm>
          <a:prstGeom prst="rect">
            <a:avLst/>
          </a:prstGeom>
        </p:spPr>
        <p:txBody>
          <a:bodyPr anchor="t" rtlCol="false" tIns="0" lIns="0" bIns="0" rIns="0">
            <a:spAutoFit/>
          </a:bodyPr>
          <a:lstStyle/>
          <a:p>
            <a:pPr algn="l" marL="470542" indent="-235271" lvl="1">
              <a:lnSpc>
                <a:spcPts val="4680"/>
              </a:lnSpc>
              <a:buFont typeface="Arial"/>
              <a:buChar char="•"/>
            </a:pPr>
            <a:r>
              <a:rPr lang="en-US" sz="2600">
                <a:solidFill>
                  <a:srgbClr val="2E946B"/>
                </a:solidFill>
                <a:latin typeface="Trebuchet MS"/>
                <a:ea typeface="Trebuchet MS"/>
                <a:cs typeface="Trebuchet MS"/>
                <a:sym typeface="Trebuchet MS"/>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p:txBody>
      </p:sp>
      <p:sp>
        <p:nvSpPr>
          <p:cNvPr name="TextBox 36" id="36"/>
          <p:cNvSpPr txBox="true"/>
          <p:nvPr/>
        </p:nvSpPr>
        <p:spPr>
          <a:xfrm rot="0">
            <a:off x="1223343" y="861822"/>
            <a:ext cx="10310527"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grpSp>
        <p:nvGrpSpPr>
          <p:cNvPr name="Group 37" id="37"/>
          <p:cNvGrpSpPr/>
          <p:nvPr/>
        </p:nvGrpSpPr>
        <p:grpSpPr>
          <a:xfrm rot="0">
            <a:off x="11993528" y="4396254"/>
            <a:ext cx="4141137" cy="4896612"/>
            <a:chOff x="0" y="0"/>
            <a:chExt cx="5521516" cy="6528816"/>
          </a:xfrm>
        </p:grpSpPr>
        <p:sp>
          <p:nvSpPr>
            <p:cNvPr name="Freeform 38" id="38"/>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3"/>
              <a:stretch>
                <a:fillRect l="0" t="0" r="1" b="0"/>
              </a:stretch>
            </a:blipFill>
          </p:spPr>
        </p:sp>
      </p:grpSp>
      <p:grpSp>
        <p:nvGrpSpPr>
          <p:cNvPr name="Group 39" id="39"/>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82040" y="1244013"/>
            <a:ext cx="9231287" cy="2952750"/>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Project Description</a:t>
            </a:r>
          </a:p>
          <a:p>
            <a:pPr algn="l">
              <a:lnSpc>
                <a:spcPts val="7776"/>
              </a:lnSpc>
            </a:pPr>
          </a:p>
          <a:p>
            <a:pPr algn="l">
              <a:lnSpc>
                <a:spcPts val="7776"/>
              </a:lnSpc>
            </a:pPr>
          </a:p>
        </p:txBody>
      </p:sp>
      <p:grpSp>
        <p:nvGrpSpPr>
          <p:cNvPr name="Group 36" id="36"/>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8" id="38"/>
          <p:cNvGrpSpPr/>
          <p:nvPr/>
        </p:nvGrpSpPr>
        <p:grpSpPr>
          <a:xfrm rot="0">
            <a:off x="701040" y="9615688"/>
            <a:ext cx="5559381" cy="444141"/>
            <a:chOff x="0" y="0"/>
            <a:chExt cx="7412507" cy="592188"/>
          </a:xfrm>
        </p:grpSpPr>
        <p:sp>
          <p:nvSpPr>
            <p:cNvPr name="Freeform 39" id="39"/>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
        <p:nvSpPr>
          <p:cNvPr name="TextBox 40" id="40"/>
          <p:cNvSpPr txBox="true"/>
          <p:nvPr/>
        </p:nvSpPr>
        <p:spPr>
          <a:xfrm rot="0">
            <a:off x="1011308" y="3171832"/>
            <a:ext cx="12048991" cy="6086468"/>
          </a:xfrm>
          <a:prstGeom prst="rect">
            <a:avLst/>
          </a:prstGeom>
        </p:spPr>
        <p:txBody>
          <a:bodyPr anchor="t" rtlCol="false" tIns="0" lIns="0" bIns="0" rIns="0">
            <a:spAutoFit/>
          </a:bodyPr>
          <a:lstStyle/>
          <a:p>
            <a:pPr algn="ctr">
              <a:lnSpc>
                <a:spcPts val="2699"/>
              </a:lnSpc>
            </a:pPr>
            <a:r>
              <a:rPr lang="en-US" sz="2249">
                <a:solidFill>
                  <a:srgbClr val="000000"/>
                </a:solidFill>
                <a:latin typeface="Trebuchet MS"/>
                <a:ea typeface="Trebuchet MS"/>
                <a:cs typeface="Trebuchet MS"/>
                <a:sym typeface="Trebuchet MS"/>
              </a:rPr>
              <a:t>The Seasonal Agriculture Performance Analysis project focuses on analyzing agricultural activities across different seasons, geographical regions and farming conditions. The project uses a structured agricultural dataset containing information related to crop production, environmental conditions, resource utilization, irrigation practices, costs, revenue, profitability and disease/pest risk.</a:t>
            </a:r>
          </a:p>
          <a:p>
            <a:pPr algn="ctr">
              <a:lnSpc>
                <a:spcPts val="2699"/>
              </a:lnSpc>
            </a:pPr>
            <a:r>
              <a:rPr lang="en-US" sz="2249">
                <a:solidFill>
                  <a:srgbClr val="000000"/>
                </a:solidFill>
                <a:latin typeface="Trebuchet MS"/>
                <a:ea typeface="Trebuchet MS"/>
                <a:cs typeface="Trebuchet MS"/>
                <a:sym typeface="Trebuchet MS"/>
              </a:rPr>
              <a:t>Using Python, Pandas, NumPy, Matplotlib, Seaborn and SciPy in Google Colab, the project performs data cleaning, exploratory data analysis, statistical analysis and visualization to identify meaningful seasonal patterns and variations.</a:t>
            </a:r>
          </a:p>
          <a:p>
            <a:pPr algn="ctr">
              <a:lnSpc>
                <a:spcPts val="2699"/>
              </a:lnSpc>
            </a:pPr>
            <a:r>
              <a:rPr lang="en-US" sz="2249">
                <a:solidFill>
                  <a:srgbClr val="000000"/>
                </a:solidFill>
                <a:latin typeface="Trebuchet MS"/>
                <a:ea typeface="Trebuchet MS"/>
                <a:cs typeface="Trebuchet MS"/>
                <a:sym typeface="Trebuchet MS"/>
              </a:rPr>
              <a:t>The analysis compares Kharif, Rabi and Zaid seasons based on agricultural productivity, crop performance, water efficiency, environmental conditions, irrigation methods and economic outcomes. It also investigates relationships between agricultural variables, identifies regional differences and examines unusual observations using correlation, statistical testing and outlier analysis.</a:t>
            </a:r>
          </a:p>
          <a:p>
            <a:pPr algn="ctr">
              <a:lnSpc>
                <a:spcPts val="2699"/>
              </a:lnSpc>
            </a:pPr>
            <a:r>
              <a:rPr lang="en-US" sz="2249">
                <a:solidFill>
                  <a:srgbClr val="000000"/>
                </a:solidFill>
                <a:latin typeface="Trebuchet MS"/>
                <a:ea typeface="Trebuchet MS"/>
                <a:cs typeface="Trebuchet MS"/>
                <a:sym typeface="Trebuchet MS"/>
              </a:rPr>
              <a:t>The objective is to transform raw agricultural data into evidence-based insights that can support better seasonal planning, resource management, crop selection, risk assessment and agricultural decision-making.</a:t>
            </a:r>
          </a:p>
          <a:p>
            <a:pPr algn="ctr">
              <a:lnSpc>
                <a:spcPts val="2699"/>
              </a:lnSpc>
            </a:pPr>
          </a:p>
          <a:p>
            <a:pPr algn="ctr">
              <a:lnSpc>
                <a:spcPts val="26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21451" y="1351121"/>
            <a:ext cx="14886222" cy="1122045"/>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6" id="36"/>
          <p:cNvGrpSpPr/>
          <p:nvPr/>
        </p:nvGrpSpPr>
        <p:grpSpPr>
          <a:xfrm rot="0">
            <a:off x="1082040" y="9265206"/>
            <a:ext cx="3271838" cy="728662"/>
            <a:chOff x="0" y="0"/>
            <a:chExt cx="4362450" cy="971550"/>
          </a:xfrm>
        </p:grpSpPr>
        <p:sp>
          <p:nvSpPr>
            <p:cNvPr name="Freeform 37" id="3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3"/>
              <a:stretch>
                <a:fillRect l="0" t="0" r="0" b="0"/>
              </a:stretch>
            </a:blipFill>
          </p:spPr>
        </p:sp>
      </p:grpSp>
      <p:sp>
        <p:nvSpPr>
          <p:cNvPr name="TextBox 38" id="38"/>
          <p:cNvSpPr txBox="true"/>
          <p:nvPr/>
        </p:nvSpPr>
        <p:spPr>
          <a:xfrm rot="0">
            <a:off x="1044089" y="3384403"/>
            <a:ext cx="10967747" cy="4553265"/>
          </a:xfrm>
          <a:prstGeom prst="rect">
            <a:avLst/>
          </a:prstGeom>
        </p:spPr>
        <p:txBody>
          <a:bodyPr anchor="t" rtlCol="false" tIns="0" lIns="0" bIns="0" rIns="0">
            <a:spAutoFit/>
          </a:bodyPr>
          <a:lstStyle/>
          <a:p>
            <a:pPr algn="ctr">
              <a:lnSpc>
                <a:spcPts val="3020"/>
              </a:lnSpc>
            </a:pPr>
          </a:p>
          <a:p>
            <a:pPr algn="ctr" marL="543525" indent="-271762" lvl="1">
              <a:lnSpc>
                <a:spcPts val="3020"/>
              </a:lnSpc>
              <a:buFont typeface="Arial"/>
              <a:buChar char="•"/>
            </a:pPr>
            <a:r>
              <a:rPr lang="en-US" sz="2517">
                <a:solidFill>
                  <a:srgbClr val="000000"/>
                </a:solidFill>
                <a:latin typeface="Trebuchet MS"/>
                <a:ea typeface="Trebuchet MS"/>
                <a:cs typeface="Trebuchet MS"/>
                <a:sym typeface="Trebuchet MS"/>
              </a:rPr>
              <a:t>   </a:t>
            </a:r>
            <a:r>
              <a:rPr lang="en-US" sz="2517">
                <a:solidFill>
                  <a:srgbClr val="000000"/>
                </a:solidFill>
                <a:latin typeface="Trebuchet MS"/>
                <a:ea typeface="Trebuchet MS"/>
                <a:cs typeface="Trebuchet MS"/>
                <a:sym typeface="Trebuchet MS"/>
              </a:rPr>
              <a:t>Farmers – To make better decisions about crop selection, irrigation and seasonal planning.</a:t>
            </a:r>
          </a:p>
          <a:p>
            <a:pPr algn="ctr" marL="543525" indent="-271762" lvl="1">
              <a:lnSpc>
                <a:spcPts val="3020"/>
              </a:lnSpc>
              <a:buFont typeface="Arial"/>
              <a:buChar char="•"/>
            </a:pPr>
            <a:r>
              <a:rPr lang="en-US" sz="2517">
                <a:solidFill>
                  <a:srgbClr val="000000"/>
                </a:solidFill>
                <a:latin typeface="Trebuchet MS"/>
                <a:ea typeface="Trebuchet MS"/>
                <a:cs typeface="Trebuchet MS"/>
                <a:sym typeface="Trebuchet MS"/>
              </a:rPr>
              <a:t>    </a:t>
            </a:r>
            <a:r>
              <a:rPr lang="en-US" sz="2517">
                <a:solidFill>
                  <a:srgbClr val="000000"/>
                </a:solidFill>
                <a:latin typeface="Trebuchet MS"/>
                <a:ea typeface="Trebuchet MS"/>
                <a:cs typeface="Trebuchet MS"/>
                <a:sym typeface="Trebuchet MS"/>
              </a:rPr>
              <a:t>Agricultural Planners – To compare seasonal and regional agricultural performance.</a:t>
            </a:r>
          </a:p>
          <a:p>
            <a:pPr algn="ctr" marL="543525" indent="-271762" lvl="1">
              <a:lnSpc>
                <a:spcPts val="3020"/>
              </a:lnSpc>
              <a:buFont typeface="Arial"/>
              <a:buChar char="•"/>
            </a:pPr>
            <a:r>
              <a:rPr lang="en-US" sz="2517">
                <a:solidFill>
                  <a:srgbClr val="000000"/>
                </a:solidFill>
                <a:latin typeface="Trebuchet MS"/>
                <a:ea typeface="Trebuchet MS"/>
                <a:cs typeface="Trebuchet MS"/>
                <a:sym typeface="Trebuchet MS"/>
              </a:rPr>
              <a:t>Government &amp; Policy Makers – To support data-driven agricultural policies and resource planning.</a:t>
            </a:r>
          </a:p>
          <a:p>
            <a:pPr algn="ctr" marL="543525" indent="-271762" lvl="1">
              <a:lnSpc>
                <a:spcPts val="3020"/>
              </a:lnSpc>
              <a:buFont typeface="Arial"/>
              <a:buChar char="•"/>
            </a:pPr>
            <a:r>
              <a:rPr lang="en-US" sz="2517">
                <a:solidFill>
                  <a:srgbClr val="000000"/>
                </a:solidFill>
                <a:latin typeface="Trebuchet MS"/>
                <a:ea typeface="Trebuchet MS"/>
                <a:cs typeface="Trebuchet MS"/>
                <a:sym typeface="Trebuchet MS"/>
              </a:rPr>
              <a:t>     </a:t>
            </a:r>
            <a:r>
              <a:rPr lang="en-US" sz="2517">
                <a:solidFill>
                  <a:srgbClr val="000000"/>
                </a:solidFill>
                <a:latin typeface="Trebuchet MS"/>
                <a:ea typeface="Trebuchet MS"/>
                <a:cs typeface="Trebuchet MS"/>
                <a:sym typeface="Trebuchet MS"/>
              </a:rPr>
              <a:t>Agribusinesses – To understand crop performance, costs, profitability and market opportunities.</a:t>
            </a:r>
          </a:p>
          <a:p>
            <a:pPr algn="ctr" marL="543525" indent="-271762" lvl="1">
              <a:lnSpc>
                <a:spcPts val="3020"/>
              </a:lnSpc>
              <a:buFont typeface="Arial"/>
              <a:buChar char="•"/>
            </a:pPr>
            <a:r>
              <a:rPr lang="en-US" sz="2517">
                <a:solidFill>
                  <a:srgbClr val="000000"/>
                </a:solidFill>
                <a:latin typeface="Trebuchet MS"/>
                <a:ea typeface="Trebuchet MS"/>
                <a:cs typeface="Trebuchet MS"/>
                <a:sym typeface="Trebuchet MS"/>
              </a:rPr>
              <a:t>    </a:t>
            </a:r>
            <a:r>
              <a:rPr lang="en-US" sz="2517">
                <a:solidFill>
                  <a:srgbClr val="000000"/>
                </a:solidFill>
                <a:latin typeface="Trebuchet MS"/>
                <a:ea typeface="Trebuchet MS"/>
                <a:cs typeface="Trebuchet MS"/>
                <a:sym typeface="Trebuchet MS"/>
              </a:rPr>
              <a:t>Agricultural Researchers – To study seasonal patterns, environmental factors and farming outcomes.</a:t>
            </a:r>
          </a:p>
          <a:p>
            <a:pPr algn="ctr">
              <a:lnSpc>
                <a:spcPts val="30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3"/>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31" id="31"/>
          <p:cNvGrpSpPr/>
          <p:nvPr/>
        </p:nvGrpSpPr>
        <p:grpSpPr>
          <a:xfrm rot="0">
            <a:off x="16510873" y="8408994"/>
            <a:ext cx="981342" cy="981342"/>
            <a:chOff x="0" y="0"/>
            <a:chExt cx="1308456" cy="1308456"/>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33" id="33"/>
          <p:cNvGrpSpPr/>
          <p:nvPr/>
        </p:nvGrpSpPr>
        <p:grpSpPr>
          <a:xfrm rot="0">
            <a:off x="16025689" y="9198654"/>
            <a:ext cx="376723" cy="376723"/>
            <a:chOff x="0" y="0"/>
            <a:chExt cx="502298" cy="502298"/>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35" id="35"/>
          <p:cNvGrpSpPr/>
          <p:nvPr/>
        </p:nvGrpSpPr>
        <p:grpSpPr>
          <a:xfrm rot="0">
            <a:off x="701040" y="9615688"/>
            <a:ext cx="5559381" cy="444141"/>
            <a:chOff x="0" y="0"/>
            <a:chExt cx="7412507" cy="592188"/>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grpSp>
        <p:nvGrpSpPr>
          <p:cNvPr name="Group 37" id="37"/>
          <p:cNvGrpSpPr/>
          <p:nvPr/>
        </p:nvGrpSpPr>
        <p:grpSpPr>
          <a:xfrm rot="0">
            <a:off x="76200" y="5730240"/>
            <a:ext cx="2590800" cy="4515040"/>
            <a:chOff x="0" y="0"/>
            <a:chExt cx="3454400" cy="6020054"/>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5"/>
              <a:stretch>
                <a:fillRect l="-5923" t="0" r="-5922" b="0"/>
              </a:stretch>
            </a:blipFill>
          </p:spPr>
        </p:sp>
      </p:grpSp>
      <p:sp>
        <p:nvSpPr>
          <p:cNvPr name="TextBox 39" id="39"/>
          <p:cNvSpPr txBox="true"/>
          <p:nvPr/>
        </p:nvSpPr>
        <p:spPr>
          <a:xfrm rot="0">
            <a:off x="1082040" y="672522"/>
            <a:ext cx="7776553" cy="1199331"/>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40" id="40"/>
          <p:cNvSpPr txBox="true"/>
          <p:nvPr/>
        </p:nvSpPr>
        <p:spPr>
          <a:xfrm rot="0">
            <a:off x="3628394" y="2338843"/>
            <a:ext cx="4198588" cy="5404930"/>
          </a:xfrm>
          <a:prstGeom prst="rect">
            <a:avLst/>
          </a:prstGeom>
        </p:spPr>
        <p:txBody>
          <a:bodyPr anchor="t" rtlCol="false" tIns="0" lIns="0" bIns="0" rIns="0">
            <a:spAutoFit/>
          </a:bodyPr>
          <a:lstStyle/>
          <a:p>
            <a:pPr algn="ctr">
              <a:lnSpc>
                <a:spcPts val="4793"/>
              </a:lnSpc>
            </a:pPr>
            <a:r>
              <a:rPr lang="en-US" sz="3994">
                <a:solidFill>
                  <a:srgbClr val="000000"/>
                </a:solidFill>
                <a:latin typeface="Trebuchet MS"/>
                <a:ea typeface="Trebuchet MS"/>
                <a:cs typeface="Trebuchet MS"/>
                <a:sym typeface="Trebuchet MS"/>
              </a:rPr>
              <a:t>Python</a:t>
            </a:r>
          </a:p>
          <a:p>
            <a:pPr algn="ctr">
              <a:lnSpc>
                <a:spcPts val="4793"/>
              </a:lnSpc>
            </a:pPr>
            <a:r>
              <a:rPr lang="en-US" sz="3994">
                <a:solidFill>
                  <a:srgbClr val="000000"/>
                </a:solidFill>
                <a:latin typeface="Trebuchet MS"/>
                <a:ea typeface="Trebuchet MS"/>
                <a:cs typeface="Trebuchet MS"/>
                <a:sym typeface="Trebuchet MS"/>
              </a:rPr>
              <a:t>Google Colab</a:t>
            </a:r>
          </a:p>
          <a:p>
            <a:pPr algn="ctr">
              <a:lnSpc>
                <a:spcPts val="4793"/>
              </a:lnSpc>
            </a:pPr>
            <a:r>
              <a:rPr lang="en-US" sz="3994">
                <a:solidFill>
                  <a:srgbClr val="000000"/>
                </a:solidFill>
                <a:latin typeface="Trebuchet MS"/>
                <a:ea typeface="Trebuchet MS"/>
                <a:cs typeface="Trebuchet MS"/>
                <a:sym typeface="Trebuchet MS"/>
              </a:rPr>
              <a:t>Pandas</a:t>
            </a:r>
          </a:p>
          <a:p>
            <a:pPr algn="ctr">
              <a:lnSpc>
                <a:spcPts val="4793"/>
              </a:lnSpc>
            </a:pPr>
            <a:r>
              <a:rPr lang="en-US" sz="3994">
                <a:solidFill>
                  <a:srgbClr val="000000"/>
                </a:solidFill>
                <a:latin typeface="Trebuchet MS"/>
                <a:ea typeface="Trebuchet MS"/>
                <a:cs typeface="Trebuchet MS"/>
                <a:sym typeface="Trebuchet MS"/>
              </a:rPr>
              <a:t>NumPy</a:t>
            </a:r>
          </a:p>
          <a:p>
            <a:pPr algn="ctr">
              <a:lnSpc>
                <a:spcPts val="4793"/>
              </a:lnSpc>
            </a:pPr>
            <a:r>
              <a:rPr lang="en-US" sz="3994">
                <a:solidFill>
                  <a:srgbClr val="000000"/>
                </a:solidFill>
                <a:latin typeface="Trebuchet MS"/>
                <a:ea typeface="Trebuchet MS"/>
                <a:cs typeface="Trebuchet MS"/>
                <a:sym typeface="Trebuchet MS"/>
              </a:rPr>
              <a:t>Matplotlib</a:t>
            </a:r>
          </a:p>
          <a:p>
            <a:pPr algn="ctr">
              <a:lnSpc>
                <a:spcPts val="4793"/>
              </a:lnSpc>
            </a:pPr>
            <a:r>
              <a:rPr lang="en-US" sz="3994">
                <a:solidFill>
                  <a:srgbClr val="000000"/>
                </a:solidFill>
                <a:latin typeface="Trebuchet MS"/>
                <a:ea typeface="Trebuchet MS"/>
                <a:cs typeface="Trebuchet MS"/>
                <a:sym typeface="Trebuchet MS"/>
              </a:rPr>
              <a:t>Seaborn</a:t>
            </a:r>
          </a:p>
          <a:p>
            <a:pPr algn="ctr">
              <a:lnSpc>
                <a:spcPts val="4793"/>
              </a:lnSpc>
            </a:pPr>
            <a:r>
              <a:rPr lang="en-US" sz="3994">
                <a:solidFill>
                  <a:srgbClr val="000000"/>
                </a:solidFill>
                <a:latin typeface="Trebuchet MS"/>
                <a:ea typeface="Trebuchet MS"/>
                <a:cs typeface="Trebuchet MS"/>
                <a:sym typeface="Trebuchet MS"/>
              </a:rPr>
              <a:t>SciPy</a:t>
            </a:r>
          </a:p>
          <a:p>
            <a:pPr algn="ctr">
              <a:lnSpc>
                <a:spcPts val="4793"/>
              </a:lnSpc>
            </a:pPr>
            <a:r>
              <a:rPr lang="en-US" sz="3994">
                <a:solidFill>
                  <a:srgbClr val="000000"/>
                </a:solidFill>
                <a:latin typeface="Trebuchet MS"/>
                <a:ea typeface="Trebuchet MS"/>
                <a:cs typeface="Trebuchet MS"/>
                <a:sym typeface="Trebuchet MS"/>
              </a:rPr>
              <a:t>Statistical Analysis</a:t>
            </a:r>
          </a:p>
          <a:p>
            <a:pPr algn="ctr">
              <a:lnSpc>
                <a:spcPts val="4793"/>
              </a:lnSpc>
              <a:spcBef>
                <a:spcPct val="0"/>
              </a:spcBef>
            </a:pPr>
            <a:r>
              <a:rPr lang="en-US" sz="3994">
                <a:solidFill>
                  <a:srgbClr val="000000"/>
                </a:solidFill>
                <a:latin typeface="Trebuchet MS"/>
                <a:ea typeface="Trebuchet MS"/>
                <a:cs typeface="Trebuchet MS"/>
                <a:sym typeface="Trebuchet MS"/>
              </a:rPr>
              <a:t>Data Visualization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045416" y="1756658"/>
            <a:ext cx="8993772" cy="4968680"/>
          </a:xfrm>
          <a:custGeom>
            <a:avLst/>
            <a:gdLst/>
            <a:ahLst/>
            <a:cxnLst/>
            <a:rect r="r" b="b" t="t" l="l"/>
            <a:pathLst>
              <a:path h="4968680" w="8993772">
                <a:moveTo>
                  <a:pt x="0" y="0"/>
                </a:moveTo>
                <a:lnTo>
                  <a:pt x="8993772" y="0"/>
                </a:lnTo>
                <a:lnTo>
                  <a:pt x="8993772" y="4968679"/>
                </a:lnTo>
                <a:lnTo>
                  <a:pt x="0" y="4968679"/>
                </a:lnTo>
                <a:lnTo>
                  <a:pt x="0" y="0"/>
                </a:lnTo>
                <a:close/>
              </a:path>
            </a:pathLst>
          </a:custGeom>
          <a:blipFill>
            <a:blip r:embed="rId4"/>
            <a:stretch>
              <a:fillRect l="0" t="0" r="0" b="0"/>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1013936" y="7358668"/>
            <a:ext cx="12171503" cy="1365093"/>
          </a:xfrm>
          <a:prstGeom prst="rect">
            <a:avLst/>
          </a:prstGeom>
        </p:spPr>
        <p:txBody>
          <a:bodyPr anchor="t" rtlCol="false" tIns="0" lIns="0" bIns="0" rIns="0">
            <a:spAutoFit/>
          </a:bodyPr>
          <a:lstStyle/>
          <a:p>
            <a:pPr algn="ctr">
              <a:lnSpc>
                <a:spcPts val="2167"/>
              </a:lnSpc>
            </a:pPr>
            <a:r>
              <a:rPr lang="en-US" sz="1806">
                <a:solidFill>
                  <a:srgbClr val="000000"/>
                </a:solidFill>
                <a:latin typeface="Trebuchet MS"/>
                <a:ea typeface="Trebuchet MS"/>
                <a:cs typeface="Trebuchet MS"/>
                <a:sym typeface="Trebuchet MS"/>
              </a:rPr>
              <a:t>The graph compares the average yield in tonnes per hectare for Kharif, Rabi and Zaid seasons.</a:t>
            </a:r>
          </a:p>
          <a:p>
            <a:pPr algn="ctr">
              <a:lnSpc>
                <a:spcPts val="2167"/>
              </a:lnSpc>
            </a:pPr>
            <a:r>
              <a:rPr lang="en-US" sz="1806">
                <a:solidFill>
                  <a:srgbClr val="000000"/>
                </a:solidFill>
                <a:latin typeface="Trebuchet MS"/>
                <a:ea typeface="Trebuchet MS"/>
                <a:cs typeface="Trebuchet MS"/>
                <a:sym typeface="Trebuchet MS"/>
              </a:rPr>
              <a:t>Kharif recorded the highest average yield at 5.63 tonnes/ha, followed by Rabi at 5.04 tonnes/ha and Zaid at 4.64 tonnes/ha. This indicates that agricultural productivity varies across seasons, with Kharif showing the strongest overall yield performance.</a:t>
            </a:r>
          </a:p>
          <a:p>
            <a:pPr algn="ctr">
              <a:lnSpc>
                <a:spcPts val="2167"/>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105376" y="1756658"/>
            <a:ext cx="7923909" cy="5547135"/>
          </a:xfrm>
          <a:custGeom>
            <a:avLst/>
            <a:gdLst/>
            <a:ahLst/>
            <a:cxnLst/>
            <a:rect r="r" b="b" t="t" l="l"/>
            <a:pathLst>
              <a:path h="5547135" w="7923909">
                <a:moveTo>
                  <a:pt x="0" y="0"/>
                </a:moveTo>
                <a:lnTo>
                  <a:pt x="7923910" y="0"/>
                </a:lnTo>
                <a:lnTo>
                  <a:pt x="7923910" y="5547135"/>
                </a:lnTo>
                <a:lnTo>
                  <a:pt x="0" y="5547135"/>
                </a:lnTo>
                <a:lnTo>
                  <a:pt x="0" y="0"/>
                </a:lnTo>
                <a:close/>
              </a:path>
            </a:pathLst>
          </a:custGeom>
          <a:blipFill>
            <a:blip r:embed="rId4"/>
            <a:stretch>
              <a:fillRect l="0" t="-468" r="0" b="-468"/>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1105376" y="7294268"/>
            <a:ext cx="12102627" cy="1398421"/>
          </a:xfrm>
          <a:prstGeom prst="rect">
            <a:avLst/>
          </a:prstGeom>
        </p:spPr>
        <p:txBody>
          <a:bodyPr anchor="t" rtlCol="false" tIns="0" lIns="0" bIns="0" rIns="0">
            <a:spAutoFit/>
          </a:bodyPr>
          <a:lstStyle/>
          <a:p>
            <a:pPr algn="ctr">
              <a:lnSpc>
                <a:spcPts val="2220"/>
              </a:lnSpc>
            </a:pPr>
            <a:r>
              <a:rPr lang="en-US" sz="1850">
                <a:solidFill>
                  <a:srgbClr val="000000"/>
                </a:solidFill>
                <a:latin typeface="Trebuchet MS"/>
                <a:ea typeface="Trebuchet MS"/>
                <a:cs typeface="Trebuchet MS"/>
                <a:sym typeface="Trebuchet MS"/>
              </a:rPr>
              <a:t>This heatmap compares the average yield of each crop across Kharif, Rabi and Zaid.</a:t>
            </a:r>
          </a:p>
          <a:p>
            <a:pPr algn="ctr">
              <a:lnSpc>
                <a:spcPts val="2220"/>
              </a:lnSpc>
            </a:pPr>
            <a:r>
              <a:rPr lang="en-US" sz="1850">
                <a:solidFill>
                  <a:srgbClr val="000000"/>
                </a:solidFill>
                <a:latin typeface="Trebuchet MS"/>
                <a:ea typeface="Trebuchet MS"/>
                <a:cs typeface="Trebuchet MS"/>
                <a:sym typeface="Trebuchet MS"/>
              </a:rPr>
              <a:t>The crop-season heatmap shows clear differences in crop performance across seasons. Sugarcane recorded the highest average yield at 46.64 tonnes/ha, while other crops showed lower and more varied performance. This highlights the importance of considering both crop type and season when planning agricultural production.</a:t>
            </a:r>
          </a:p>
          <a:p>
            <a:pPr algn="ctr">
              <a:lnSpc>
                <a:spcPts val="22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1028700" y="1592645"/>
            <a:ext cx="8829121" cy="5374244"/>
          </a:xfrm>
          <a:custGeom>
            <a:avLst/>
            <a:gdLst/>
            <a:ahLst/>
            <a:cxnLst/>
            <a:rect r="r" b="b" t="t" l="l"/>
            <a:pathLst>
              <a:path h="5374244" w="8829121">
                <a:moveTo>
                  <a:pt x="0" y="0"/>
                </a:moveTo>
                <a:lnTo>
                  <a:pt x="8829121" y="0"/>
                </a:lnTo>
                <a:lnTo>
                  <a:pt x="8829121" y="5374244"/>
                </a:lnTo>
                <a:lnTo>
                  <a:pt x="0" y="5374244"/>
                </a:lnTo>
                <a:lnTo>
                  <a:pt x="0" y="0"/>
                </a:lnTo>
                <a:close/>
              </a:path>
            </a:pathLst>
          </a:custGeom>
          <a:blipFill>
            <a:blip r:embed="rId4"/>
            <a:stretch>
              <a:fillRect l="0" t="0" r="-4315" b="-2589"/>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990590" y="7419975"/>
            <a:ext cx="11960238" cy="1316003"/>
          </a:xfrm>
          <a:prstGeom prst="rect">
            <a:avLst/>
          </a:prstGeom>
        </p:spPr>
        <p:txBody>
          <a:bodyPr anchor="t" rtlCol="false" tIns="0" lIns="0" bIns="0" rIns="0">
            <a:spAutoFit/>
          </a:bodyPr>
          <a:lstStyle/>
          <a:p>
            <a:pPr algn="ctr">
              <a:lnSpc>
                <a:spcPts val="2089"/>
              </a:lnSpc>
            </a:pPr>
            <a:r>
              <a:rPr lang="en-US" sz="1740">
                <a:solidFill>
                  <a:srgbClr val="000000"/>
                </a:solidFill>
                <a:latin typeface="Trebuchet MS"/>
                <a:ea typeface="Trebuchet MS"/>
                <a:cs typeface="Trebuchet MS"/>
                <a:sym typeface="Trebuchet MS"/>
              </a:rPr>
              <a:t>The graph compares the average yield achieved using Drip, Sprinkler, Rainfed and Flood irrigation.</a:t>
            </a:r>
          </a:p>
          <a:p>
            <a:pPr algn="ctr">
              <a:lnSpc>
                <a:spcPts val="2089"/>
              </a:lnSpc>
            </a:pPr>
            <a:r>
              <a:rPr lang="en-US" sz="1740">
                <a:solidFill>
                  <a:srgbClr val="000000"/>
                </a:solidFill>
                <a:latin typeface="Trebuchet MS"/>
                <a:ea typeface="Trebuchet MS"/>
                <a:cs typeface="Trebuchet MS"/>
                <a:sym typeface="Trebuchet MS"/>
              </a:rPr>
              <a:t>Among the irrigation methods, Drip irrigation recorded the highest average yield of 6.58 tonnes/ha. Sprinkler, Flood and Rainfed methods recorded lower average yields. The result shows a strong association between irrigation method and observed agricultural productivity.</a:t>
            </a:r>
          </a:p>
          <a:p>
            <a:pPr algn="ctr">
              <a:lnSpc>
                <a:spcPts val="208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987623" y="1756658"/>
            <a:ext cx="8533534" cy="5313605"/>
          </a:xfrm>
          <a:custGeom>
            <a:avLst/>
            <a:gdLst/>
            <a:ahLst/>
            <a:cxnLst/>
            <a:rect r="r" b="b" t="t" l="l"/>
            <a:pathLst>
              <a:path h="5313605" w="8533534">
                <a:moveTo>
                  <a:pt x="0" y="0"/>
                </a:moveTo>
                <a:lnTo>
                  <a:pt x="8533534" y="0"/>
                </a:lnTo>
                <a:lnTo>
                  <a:pt x="8533534" y="5313605"/>
                </a:lnTo>
                <a:lnTo>
                  <a:pt x="0" y="5313605"/>
                </a:lnTo>
                <a:lnTo>
                  <a:pt x="0" y="0"/>
                </a:lnTo>
                <a:close/>
              </a:path>
            </a:pathLst>
          </a:custGeom>
          <a:blipFill>
            <a:blip r:embed="rId4"/>
            <a:stretch>
              <a:fillRect l="0" t="0" r="0" b="0"/>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1430846" y="7207248"/>
            <a:ext cx="11519982" cy="1507269"/>
          </a:xfrm>
          <a:prstGeom prst="rect">
            <a:avLst/>
          </a:prstGeom>
        </p:spPr>
        <p:txBody>
          <a:bodyPr anchor="t" rtlCol="false" tIns="0" lIns="0" bIns="0" rIns="0">
            <a:spAutoFit/>
          </a:bodyPr>
          <a:lstStyle/>
          <a:p>
            <a:pPr algn="ctr">
              <a:lnSpc>
                <a:spcPts val="2394"/>
              </a:lnSpc>
            </a:pPr>
            <a:r>
              <a:rPr lang="en-US" sz="1995">
                <a:solidFill>
                  <a:srgbClr val="000000"/>
                </a:solidFill>
                <a:latin typeface="Trebuchet MS"/>
                <a:ea typeface="Trebuchet MS"/>
                <a:cs typeface="Trebuchet MS"/>
                <a:sym typeface="Trebuchet MS"/>
              </a:rPr>
              <a:t>The graph compares water efficiency across the three seasons.</a:t>
            </a:r>
          </a:p>
          <a:p>
            <a:pPr algn="ctr">
              <a:lnSpc>
                <a:spcPts val="2394"/>
              </a:lnSpc>
            </a:pPr>
            <a:r>
              <a:rPr lang="en-US" sz="1995">
                <a:solidFill>
                  <a:srgbClr val="000000"/>
                </a:solidFill>
                <a:latin typeface="Trebuchet MS"/>
                <a:ea typeface="Trebuchet MS"/>
                <a:cs typeface="Trebuchet MS"/>
                <a:sym typeface="Trebuchet MS"/>
              </a:rPr>
              <a:t>Kharif showed the highest average water efficiency of 5.89, followed by Rabi at 5.19 and Zaid at 4.41. This indicates that water utilization efficiency varies by season, making seasonal resource planning important for improving agricultural performance.</a:t>
            </a:r>
          </a:p>
          <a:p>
            <a:pPr algn="ctr">
              <a:lnSpc>
                <a:spcPts val="239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673103" y="1941989"/>
            <a:ext cx="9203819" cy="5487511"/>
          </a:xfrm>
          <a:custGeom>
            <a:avLst/>
            <a:gdLst/>
            <a:ahLst/>
            <a:cxnLst/>
            <a:rect r="r" b="b" t="t" l="l"/>
            <a:pathLst>
              <a:path h="5487511" w="9203819">
                <a:moveTo>
                  <a:pt x="0" y="0"/>
                </a:moveTo>
                <a:lnTo>
                  <a:pt x="9203819" y="0"/>
                </a:lnTo>
                <a:lnTo>
                  <a:pt x="9203819" y="5487511"/>
                </a:lnTo>
                <a:lnTo>
                  <a:pt x="0" y="5487511"/>
                </a:lnTo>
                <a:lnTo>
                  <a:pt x="0" y="0"/>
                </a:lnTo>
                <a:close/>
              </a:path>
            </a:pathLst>
          </a:custGeom>
          <a:blipFill>
            <a:blip r:embed="rId4"/>
            <a:stretch>
              <a:fillRect l="0" t="0" r="0" b="0"/>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673103" y="7541152"/>
            <a:ext cx="12725400" cy="1125306"/>
          </a:xfrm>
          <a:prstGeom prst="rect">
            <a:avLst/>
          </a:prstGeom>
        </p:spPr>
        <p:txBody>
          <a:bodyPr anchor="t" rtlCol="false" tIns="0" lIns="0" bIns="0" rIns="0">
            <a:spAutoFit/>
          </a:bodyPr>
          <a:lstStyle/>
          <a:p>
            <a:pPr algn="ctr">
              <a:lnSpc>
                <a:spcPts val="2230"/>
              </a:lnSpc>
            </a:pPr>
            <a:r>
              <a:rPr lang="en-US" sz="1858">
                <a:solidFill>
                  <a:srgbClr val="000000"/>
                </a:solidFill>
                <a:latin typeface="Trebuchet MS"/>
                <a:ea typeface="Trebuchet MS"/>
                <a:cs typeface="Trebuchet MS"/>
                <a:sym typeface="Trebuchet MS"/>
              </a:rPr>
              <a:t>The profit distribution graph compares the spread of farm profits across Kharif, Rabi and Zaid seasons. Kharif shows the strongest overall profit performance, while Zaid has a wider concentration of lower and negative profits. This highlights significant differences in the economic performance of farming across seasons.</a:t>
            </a:r>
          </a:p>
          <a:p>
            <a:pPr algn="ctr">
              <a:lnSpc>
                <a:spcPts val="223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990590" y="1532329"/>
            <a:ext cx="8279625" cy="5897171"/>
          </a:xfrm>
          <a:custGeom>
            <a:avLst/>
            <a:gdLst/>
            <a:ahLst/>
            <a:cxnLst/>
            <a:rect r="r" b="b" t="t" l="l"/>
            <a:pathLst>
              <a:path h="5897171" w="8279625">
                <a:moveTo>
                  <a:pt x="0" y="0"/>
                </a:moveTo>
                <a:lnTo>
                  <a:pt x="8279625" y="0"/>
                </a:lnTo>
                <a:lnTo>
                  <a:pt x="8279625" y="5897171"/>
                </a:lnTo>
                <a:lnTo>
                  <a:pt x="0" y="5897171"/>
                </a:lnTo>
                <a:lnTo>
                  <a:pt x="0" y="0"/>
                </a:lnTo>
                <a:close/>
              </a:path>
            </a:pathLst>
          </a:custGeom>
          <a:blipFill>
            <a:blip r:embed="rId4"/>
            <a:stretch>
              <a:fillRect l="-3946" t="0" r="0" b="0"/>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990590" y="7410450"/>
            <a:ext cx="11569713" cy="1899055"/>
          </a:xfrm>
          <a:prstGeom prst="rect">
            <a:avLst/>
          </a:prstGeom>
        </p:spPr>
        <p:txBody>
          <a:bodyPr anchor="t" rtlCol="false" tIns="0" lIns="0" bIns="0" rIns="0">
            <a:spAutoFit/>
          </a:bodyPr>
          <a:lstStyle/>
          <a:p>
            <a:pPr algn="ctr">
              <a:lnSpc>
                <a:spcPts val="2505"/>
              </a:lnSpc>
            </a:pPr>
            <a:r>
              <a:rPr lang="en-US" sz="2087">
                <a:solidFill>
                  <a:srgbClr val="000000"/>
                </a:solidFill>
                <a:latin typeface="Trebuchet MS"/>
                <a:ea typeface="Trebuchet MS"/>
                <a:cs typeface="Trebuchet MS"/>
                <a:sym typeface="Trebuchet MS"/>
              </a:rPr>
              <a:t>The heatmap compares average yield across different states and seasons.</a:t>
            </a:r>
          </a:p>
          <a:p>
            <a:pPr algn="ctr">
              <a:lnSpc>
                <a:spcPts val="2505"/>
              </a:lnSpc>
            </a:pPr>
            <a:r>
              <a:rPr lang="en-US" sz="2087">
                <a:solidFill>
                  <a:srgbClr val="000000"/>
                </a:solidFill>
                <a:latin typeface="Trebuchet MS"/>
                <a:ea typeface="Trebuchet MS"/>
                <a:cs typeface="Trebuchet MS"/>
                <a:sym typeface="Trebuchet MS"/>
              </a:rPr>
              <a:t>The state-season heatmap reveals regional variation in agricultural yield across Kharif, Rabi and Zaid. The results show that seasonal performance is not identical across all states, highlighting the importance of region-specific agricultural planning and resource management.</a:t>
            </a:r>
          </a:p>
          <a:p>
            <a:pPr algn="ctr">
              <a:lnSpc>
                <a:spcPts val="2505"/>
              </a:lnSpc>
            </a:pPr>
          </a:p>
          <a:p>
            <a:pPr algn="ctr">
              <a:lnSpc>
                <a:spcPts val="2505"/>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447218" y="1580092"/>
            <a:ext cx="7387902" cy="6465885"/>
          </a:xfrm>
          <a:custGeom>
            <a:avLst/>
            <a:gdLst/>
            <a:ahLst/>
            <a:cxnLst/>
            <a:rect r="r" b="b" t="t" l="l"/>
            <a:pathLst>
              <a:path h="6465885" w="7387902">
                <a:moveTo>
                  <a:pt x="0" y="0"/>
                </a:moveTo>
                <a:lnTo>
                  <a:pt x="7387902" y="0"/>
                </a:lnTo>
                <a:lnTo>
                  <a:pt x="7387902" y="6465885"/>
                </a:lnTo>
                <a:lnTo>
                  <a:pt x="0" y="6465885"/>
                </a:lnTo>
                <a:lnTo>
                  <a:pt x="0" y="0"/>
                </a:lnTo>
                <a:close/>
              </a:path>
            </a:pathLst>
          </a:custGeom>
          <a:blipFill>
            <a:blip r:embed="rId4"/>
            <a:stretch>
              <a:fillRect l="0" t="-241" r="0" b="-237"/>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8118971" y="3667377"/>
            <a:ext cx="6598516" cy="2099324"/>
          </a:xfrm>
          <a:prstGeom prst="rect">
            <a:avLst/>
          </a:prstGeom>
        </p:spPr>
        <p:txBody>
          <a:bodyPr anchor="t" rtlCol="false" tIns="0" lIns="0" bIns="0" rIns="0">
            <a:spAutoFit/>
          </a:bodyPr>
          <a:lstStyle/>
          <a:p>
            <a:pPr algn="ctr">
              <a:lnSpc>
                <a:spcPts val="2088"/>
              </a:lnSpc>
            </a:pPr>
            <a:r>
              <a:rPr lang="en-US" sz="1740">
                <a:solidFill>
                  <a:srgbClr val="000000"/>
                </a:solidFill>
                <a:latin typeface="Trebuchet MS"/>
                <a:ea typeface="Trebuchet MS"/>
                <a:cs typeface="Trebuchet MS"/>
                <a:sym typeface="Trebuchet MS"/>
              </a:rPr>
              <a:t>The correlation heatmap displays relationships between major agricultural variables.</a:t>
            </a:r>
          </a:p>
          <a:p>
            <a:pPr algn="ctr">
              <a:lnSpc>
                <a:spcPts val="2088"/>
              </a:lnSpc>
            </a:pPr>
            <a:r>
              <a:rPr lang="en-US" sz="1740">
                <a:solidFill>
                  <a:srgbClr val="000000"/>
                </a:solidFill>
                <a:latin typeface="Trebuchet MS"/>
                <a:ea typeface="Trebuchet MS"/>
                <a:cs typeface="Trebuchet MS"/>
                <a:sym typeface="Trebuchet MS"/>
              </a:rPr>
              <a:t>The correlation analysis shows that water efficiency has the strongest positive relationship with yield (r = 0.913), followed by production (r = 0.883). Revenue and profit per hectare also show positive relationships with yield. These results help identify the variables most closely associated with agricultural productivity.</a:t>
            </a:r>
          </a:p>
          <a:p>
            <a:pPr algn="ctr">
              <a:lnSpc>
                <a:spcPts val="208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Future scope</a:t>
            </a:r>
          </a:p>
        </p:txBody>
      </p:sp>
      <p:sp>
        <p:nvSpPr>
          <p:cNvPr name="TextBox 38" id="38"/>
          <p:cNvSpPr txBox="true"/>
          <p:nvPr/>
        </p:nvSpPr>
        <p:spPr>
          <a:xfrm rot="0">
            <a:off x="673103" y="3206323"/>
            <a:ext cx="11301330" cy="4347422"/>
          </a:xfrm>
          <a:prstGeom prst="rect">
            <a:avLst/>
          </a:prstGeom>
        </p:spPr>
        <p:txBody>
          <a:bodyPr anchor="t" rtlCol="false" tIns="0" lIns="0" bIns="0" rIns="0">
            <a:spAutoFit/>
          </a:bodyPr>
          <a:lstStyle/>
          <a:p>
            <a:pPr algn="ctr">
              <a:lnSpc>
                <a:spcPts val="2477"/>
              </a:lnSpc>
            </a:pP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Real-Time Data Integration: Incorporate real-time weather, rainfall and environmental data to improve seasonal agricultural analysis.</a:t>
            </a: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Predictive Analysis: Apply machine learning techniques to predict crop yield, profitability and potential agricultural risks.</a:t>
            </a: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Advanced Resource Management: Analyze water, fertilizer and pesticide usage to identify more efficient farming practices.</a:t>
            </a: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Regional-Level Analysis: Develop region-specific insights and recommendations based on soil, climate and crop conditions.</a:t>
            </a: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Decision Support System: Extend the project into an interactive dashboard or application for practical agricultural planning and decision-making.</a:t>
            </a:r>
          </a:p>
          <a:p>
            <a:pPr algn="ctr" marL="445707" indent="-222853" lvl="1">
              <a:lnSpc>
                <a:spcPts val="2477"/>
              </a:lnSpc>
              <a:buFont typeface="Arial"/>
              <a:buChar char="•"/>
            </a:pPr>
            <a:r>
              <a:rPr lang="en-US" sz="2064">
                <a:solidFill>
                  <a:srgbClr val="000000"/>
                </a:solidFill>
                <a:latin typeface="Trebuchet MS"/>
                <a:ea typeface="Trebuchet MS"/>
                <a:cs typeface="Trebuchet MS"/>
                <a:sym typeface="Trebuchet MS"/>
              </a:rPr>
              <a:t>Crop Recommendation: Develop a recommendation system to identify suitable crops and irrigation methods for different seasonal and environmental conditions.</a:t>
            </a:r>
          </a:p>
          <a:p>
            <a:pPr algn="ctr">
              <a:lnSpc>
                <a:spcPts val="2477"/>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GitHub Link</a:t>
            </a:r>
          </a:p>
        </p:txBody>
      </p:sp>
      <p:sp>
        <p:nvSpPr>
          <p:cNvPr name="TextBox 38" id="38"/>
          <p:cNvSpPr txBox="true"/>
          <p:nvPr/>
        </p:nvSpPr>
        <p:spPr>
          <a:xfrm rot="0">
            <a:off x="1343200" y="6288875"/>
            <a:ext cx="8119467" cy="257175"/>
          </a:xfrm>
          <a:prstGeom prst="rect">
            <a:avLst/>
          </a:prstGeom>
        </p:spPr>
        <p:txBody>
          <a:bodyPr anchor="t" rtlCol="false" tIns="0" lIns="0" bIns="0" rIns="0">
            <a:spAutoFit/>
          </a:bodyPr>
          <a:lstStyle/>
          <a:p>
            <a:pPr algn="ctr">
              <a:lnSpc>
                <a:spcPts val="1980"/>
              </a:lnSpc>
              <a:spcBef>
                <a:spcPct val="0"/>
              </a:spcBef>
            </a:pPr>
            <a:r>
              <a:rPr lang="en-US" sz="1650">
                <a:solidFill>
                  <a:srgbClr val="000000"/>
                </a:solidFill>
                <a:latin typeface="Trebuchet MS"/>
                <a:ea typeface="Trebuchet MS"/>
                <a:cs typeface="Trebuchet MS"/>
                <a:sym typeface="Trebuchet MS"/>
              </a:rPr>
              <a:t>https://github.com/pranav-raypelli06/Seasonal-Agriculture-Performance-Analysis..git</a:t>
            </a:r>
          </a:p>
        </p:txBody>
      </p:sp>
      <p:sp>
        <p:nvSpPr>
          <p:cNvPr name="TextBox 39" id="39"/>
          <p:cNvSpPr txBox="true"/>
          <p:nvPr/>
        </p:nvSpPr>
        <p:spPr>
          <a:xfrm rot="0">
            <a:off x="1343200" y="5505437"/>
            <a:ext cx="1175246" cy="257175"/>
          </a:xfrm>
          <a:prstGeom prst="rect">
            <a:avLst/>
          </a:prstGeom>
        </p:spPr>
        <p:txBody>
          <a:bodyPr anchor="t" rtlCol="false" tIns="0" lIns="0" bIns="0" rIns="0">
            <a:spAutoFit/>
          </a:bodyPr>
          <a:lstStyle/>
          <a:p>
            <a:pPr algn="ctr">
              <a:lnSpc>
                <a:spcPts val="1980"/>
              </a:lnSpc>
              <a:spcBef>
                <a:spcPct val="0"/>
              </a:spcBef>
            </a:pPr>
            <a:r>
              <a:rPr lang="en-US" sz="1650">
                <a:solidFill>
                  <a:srgbClr val="000000"/>
                </a:solidFill>
                <a:latin typeface="Trebuchet MS"/>
                <a:ea typeface="Trebuchet MS"/>
                <a:cs typeface="Trebuchet MS"/>
                <a:sym typeface="Trebuchet MS"/>
              </a:rPr>
              <a:t>Git hub link:</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3" id="33"/>
          <p:cNvGrpSpPr/>
          <p:nvPr/>
        </p:nvGrpSpPr>
        <p:grpSpPr>
          <a:xfrm rot="0">
            <a:off x="1013936" y="9707880"/>
            <a:ext cx="3214688" cy="289560"/>
            <a:chOff x="0" y="0"/>
            <a:chExt cx="4286250" cy="386080"/>
          </a:xfrm>
        </p:grpSpPr>
        <p:sp>
          <p:nvSpPr>
            <p:cNvPr name="Freeform 34" id="34"/>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5" id="35"/>
          <p:cNvSpPr/>
          <p:nvPr/>
        </p:nvSpPr>
        <p:spPr>
          <a:xfrm flipH="false" flipV="false" rot="0">
            <a:off x="1297986" y="2254120"/>
            <a:ext cx="9725361" cy="6862458"/>
          </a:xfrm>
          <a:custGeom>
            <a:avLst/>
            <a:gdLst/>
            <a:ahLst/>
            <a:cxnLst/>
            <a:rect r="r" b="b" t="t" l="l"/>
            <a:pathLst>
              <a:path h="6862458" w="9725361">
                <a:moveTo>
                  <a:pt x="0" y="0"/>
                </a:moveTo>
                <a:lnTo>
                  <a:pt x="9725361" y="0"/>
                </a:lnTo>
                <a:lnTo>
                  <a:pt x="9725361" y="6862458"/>
                </a:lnTo>
                <a:lnTo>
                  <a:pt x="0" y="6862458"/>
                </a:lnTo>
                <a:lnTo>
                  <a:pt x="0" y="0"/>
                </a:lnTo>
                <a:close/>
              </a:path>
            </a:pathLst>
          </a:custGeom>
          <a:blipFill>
            <a:blip r:embed="rId4"/>
            <a:stretch>
              <a:fillRect l="0" t="0" r="0" b="0"/>
            </a:stretch>
          </a:blipFill>
        </p:spPr>
      </p:sp>
      <p:sp>
        <p:nvSpPr>
          <p:cNvPr name="TextBox 36" id="36"/>
          <p:cNvSpPr txBox="true"/>
          <p:nvPr/>
        </p:nvSpPr>
        <p:spPr>
          <a:xfrm rot="0">
            <a:off x="1105376" y="592074"/>
            <a:ext cx="12344200" cy="1245070"/>
          </a:xfrm>
          <a:prstGeom prst="rect">
            <a:avLst/>
          </a:prstGeom>
        </p:spPr>
        <p:txBody>
          <a:bodyPr anchor="t" rtlCol="false" tIns="0" lIns="0" bIns="0" rIns="0">
            <a:spAutoFit/>
          </a:bodyPr>
          <a:lstStyle/>
          <a:p>
            <a:pPr algn="l">
              <a:lnSpc>
                <a:spcPts val="5184"/>
              </a:lnSpc>
            </a:pPr>
            <a:r>
              <a:rPr lang="en-US" sz="4320" b="true">
                <a:solidFill>
                  <a:srgbClr val="000000"/>
                </a:solidFill>
                <a:latin typeface="Trebuchet MS Bold"/>
                <a:ea typeface="Trebuchet MS Bold"/>
                <a:cs typeface="Trebuchet MS Bold"/>
                <a:sym typeface="Trebuchet MS Bold"/>
              </a:rPr>
              <a:t>VOIS Course completion certificate - </a:t>
            </a:r>
          </a:p>
          <a:p>
            <a:pPr algn="l">
              <a:lnSpc>
                <a:spcPts val="5184"/>
              </a:lnSpc>
            </a:pPr>
            <a:r>
              <a:rPr lang="en-US" sz="4320" b="true">
                <a:solidFill>
                  <a:srgbClr val="000000"/>
                </a:solidFill>
                <a:latin typeface="Trebuchet MS Bold"/>
                <a:ea typeface="Trebuchet MS Bold"/>
                <a:cs typeface="Trebuchet MS Bold"/>
                <a:sym typeface="Trebuchet MS Bold"/>
              </a:rPr>
              <a:t>Course name- Data Visualization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9/2/2026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7" y="5201336"/>
            <a:ext cx="687400" cy="592588"/>
            <a:chOff x="0" y="0"/>
            <a:chExt cx="916534"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7" y="3592087"/>
            <a:ext cx="537591" cy="463439"/>
            <a:chOff x="0" y="0"/>
            <a:chExt cx="716788" cy="617918"/>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299"/>
            <a:ext cx="346034" cy="298304"/>
            <a:chOff x="0" y="0"/>
            <a:chExt cx="461378" cy="397739"/>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513012" y="1806210"/>
            <a:ext cx="17010002" cy="1050169"/>
            <a:chOff x="0" y="0"/>
            <a:chExt cx="22680003" cy="1400226"/>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blipFill>
              <a:blip r:embed="rId2">
                <a:alphaModFix amt="0"/>
              </a:blip>
              <a:stretch>
                <a:fillRect l="0" t="-265606" r="0" b="-265606"/>
              </a:stretch>
            </a:blipFill>
          </p:spPr>
        </p:sp>
        <p:sp>
          <p:nvSpPr>
            <p:cNvPr name="TextBox 37" id="37"/>
            <p:cNvSpPr txBox="true"/>
            <p:nvPr/>
          </p:nvSpPr>
          <p:spPr>
            <a:xfrm>
              <a:off x="0" y="-9525"/>
              <a:ext cx="22680003" cy="1409751"/>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4"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9"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DAHUsReNGhM</dc:identifier>
  <dcterms:modified xsi:type="dcterms:W3CDTF">2011-08-01T06:04:30Z</dcterms:modified>
  <cp:revision>1</cp:revision>
  <dc:title>VOIS_Major_Project_PPT_Submission_Template.pptx</dc:title>
</cp:coreProperties>
</file>